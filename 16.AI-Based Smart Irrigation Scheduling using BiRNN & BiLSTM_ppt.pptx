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75" r:id="rId10"/>
    <p:sldId id="263" r:id="rId11"/>
    <p:sldId id="276" r:id="rId12"/>
    <p:sldId id="267" r:id="rId13"/>
    <p:sldId id="277" r:id="rId14"/>
    <p:sldId id="278" r:id="rId15"/>
    <p:sldId id="268" r:id="rId16"/>
    <p:sldId id="269" r:id="rId17"/>
    <p:sldId id="270" r:id="rId18"/>
    <p:sldId id="279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702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9A341-62E1-8C8D-9634-F642D918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69F5D-EB8F-4F61-D7FD-3E63D78E9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77F58-F98E-1856-4AAB-0E8282969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6DC44-36A6-CBC0-D555-302F50A0B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25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839CB-5872-58FE-3878-529F58ED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C2BF9-AF49-A597-DC41-C8D6833A2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51D3F-C647-9BF5-65C0-DCA524D33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0EFAC-B448-53C7-E078-B8AA83B2D0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1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074D-6067-0DB5-887B-93532D2FB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48FB9-C3E8-B663-1A92-1D5D59EB9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82694-FBF9-54E3-ACBB-C035F416B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217EE-8D92-C092-544E-3E3C5B28C5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31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A8121-A707-E957-99F4-58D43854F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375D6-4944-3F1D-E78E-EDB1AB910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0B406-1ABE-3E72-538F-FA4E0B92A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7E509-43B2-3715-3EB2-CCB6FA131C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80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6385-9A36-3A09-FCC4-1E6AAE1C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3AE69-3A22-F27A-7F78-07B21CF28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880FB-6826-FFAF-430A-636960B9A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29970-3EF3-C139-A696-598564718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74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2EA2-FDD7-4CB0-CBAC-EB4C3CB91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D1514-64C4-4C86-1B02-E6B6919C8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AA9A5-C5B1-FA6A-EBA6-946D4B296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04177-A165-A050-6D33-92ABB2387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01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1012438"/>
            <a:ext cx="62511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0" y="3721563"/>
            <a:ext cx="3856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" name="Google Shape;13;p2"/>
          <p:cNvGrpSpPr/>
          <p:nvPr/>
        </p:nvGrpSpPr>
        <p:grpSpPr>
          <a:xfrm>
            <a:off x="8800388" y="-8450"/>
            <a:ext cx="13" cy="5152025"/>
            <a:chOff x="8800388" y="-8450"/>
            <a:chExt cx="13" cy="5152025"/>
          </a:xfrm>
        </p:grpSpPr>
        <p:cxnSp>
          <p:nvCxnSpPr>
            <p:cNvPr id="14" name="Google Shape;14;p2"/>
            <p:cNvCxnSpPr/>
            <p:nvPr/>
          </p:nvCxnSpPr>
          <p:spPr>
            <a:xfrm rot="10800000">
              <a:off x="8800400" y="-8450"/>
              <a:ext cx="0" cy="4616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800388" y="4608975"/>
              <a:ext cx="0" cy="5346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" name="Google Shape;16;p2"/>
          <p:cNvGrpSpPr/>
          <p:nvPr/>
        </p:nvGrpSpPr>
        <p:grpSpPr>
          <a:xfrm>
            <a:off x="320975" y="4733475"/>
            <a:ext cx="394125" cy="271800"/>
            <a:chOff x="215225" y="4734875"/>
            <a:chExt cx="394125" cy="271800"/>
          </a:xfrm>
        </p:grpSpPr>
        <p:sp>
          <p:nvSpPr>
            <p:cNvPr id="17" name="Google Shape;17;p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063137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30"/>
          <p:cNvCxnSpPr>
            <a:cxnSpLocks/>
          </p:cNvCxnSpPr>
          <p:nvPr/>
        </p:nvCxnSpPr>
        <p:spPr>
          <a:xfrm>
            <a:off x="0" y="3609593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0" name="Google Shape;340;p30"/>
          <p:cNvSpPr txBox="1">
            <a:spLocks noGrp="1"/>
          </p:cNvSpPr>
          <p:nvPr>
            <p:ph type="ctrTitle"/>
          </p:nvPr>
        </p:nvSpPr>
        <p:spPr>
          <a:xfrm>
            <a:off x="715100" y="666433"/>
            <a:ext cx="7367266" cy="9171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AI-Based Smart Irrigation Scheduling </a:t>
            </a:r>
            <a:r>
              <a:rPr lang="en-US" sz="3200" b="1" dirty="0">
                <a:solidFill>
                  <a:srgbClr val="C00000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using BiRNN &amp; BiLSTM</a:t>
            </a:r>
            <a:endParaRPr lang="en-US" sz="2800" b="1" dirty="0">
              <a:solidFill>
                <a:srgbClr val="C00000"/>
              </a:solidFill>
              <a:latin typeface="Palatino Linotype" panose="0204050205050503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logo of a company  AI-generated content may be incorrect.">
            <a:extLst>
              <a:ext uri="{FF2B5EF4-FFF2-40B4-BE49-F238E27FC236}">
                <a16:creationId xmlns:a16="http://schemas.microsoft.com/office/drawing/2014/main" id="{8B79ADF3-EA08-C982-2B69-48277DA45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67" y="4582818"/>
            <a:ext cx="592896" cy="5912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5DBED9-5809-D442-F039-0622ABD8333C}"/>
              </a:ext>
            </a:extLst>
          </p:cNvPr>
          <p:cNvSpPr txBox="1"/>
          <p:nvPr/>
        </p:nvSpPr>
        <p:spPr>
          <a:xfrm>
            <a:off x="306092" y="2224043"/>
            <a:ext cx="4575874" cy="852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(103123022) CH. Koushik Rao</a:t>
            </a:r>
          </a:p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(103123124) </a:t>
            </a:r>
            <a:r>
              <a:rPr lang="en-US" sz="1600" dirty="0" err="1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Vrindesh</a:t>
            </a:r>
            <a:r>
              <a:rPr lang="en-US" sz="1600" dirty="0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 Pareek</a:t>
            </a:r>
          </a:p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(103123066) K. Manish Kumar</a:t>
            </a:r>
          </a:p>
        </p:txBody>
      </p:sp>
      <p:sp>
        <p:nvSpPr>
          <p:cNvPr id="2" name="Google Shape;462;p42">
            <a:extLst>
              <a:ext uri="{FF2B5EF4-FFF2-40B4-BE49-F238E27FC236}">
                <a16:creationId xmlns:a16="http://schemas.microsoft.com/office/drawing/2014/main" id="{92E2F325-297E-E991-954C-C80E7E49D9CD}"/>
              </a:ext>
            </a:extLst>
          </p:cNvPr>
          <p:cNvSpPr txBox="1"/>
          <p:nvPr/>
        </p:nvSpPr>
        <p:spPr>
          <a:xfrm>
            <a:off x="2155333" y="4740577"/>
            <a:ext cx="526192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solidFill>
                  <a:schemeClr val="bg1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CEPC22 – Hydrology &amp; Irrigation Engineering</a:t>
            </a:r>
            <a:endParaRPr dirty="0">
              <a:solidFill>
                <a:schemeClr val="bg1"/>
              </a:solidFill>
              <a:latin typeface="Palatino Linotype" panose="02040502050505030304" pitchFamily="18" charset="0"/>
              <a:cs typeface="Times New Roman" panose="02020603050405020304" pitchFamily="18" charset="0"/>
              <a:sym typeface="Arim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1A0231-3B1F-819C-8B93-56EDE26A7E91}"/>
              </a:ext>
            </a:extLst>
          </p:cNvPr>
          <p:cNvSpPr txBox="1"/>
          <p:nvPr/>
        </p:nvSpPr>
        <p:spPr>
          <a:xfrm>
            <a:off x="1634103" y="3699165"/>
            <a:ext cx="5875795" cy="6052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800" dirty="0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Department of Civil Engineering, </a:t>
            </a:r>
          </a:p>
          <a:p>
            <a:pPr algn="ctr">
              <a:lnSpc>
                <a:spcPts val="2000"/>
              </a:lnSpc>
            </a:pPr>
            <a:r>
              <a:rPr lang="en-US" sz="1800" dirty="0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NIT Tiruchirappalli – 620015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6CB75-141C-42AF-78B1-045DC243C826}"/>
              </a:ext>
            </a:extLst>
          </p:cNvPr>
          <p:cNvSpPr txBox="1"/>
          <p:nvPr/>
        </p:nvSpPr>
        <p:spPr>
          <a:xfrm>
            <a:off x="1732259" y="4265406"/>
            <a:ext cx="5875795" cy="339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600" dirty="0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Date: 10-04-</a:t>
            </a:r>
            <a:r>
              <a:rPr lang="en-US" sz="1600" dirty="0" err="1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2026</a:t>
            </a:r>
            <a:endParaRPr lang="en-US" sz="1600" dirty="0">
              <a:solidFill>
                <a:srgbClr val="092F53"/>
              </a:solidFill>
              <a:latin typeface="Palatino Linotype" panose="020405020505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C5189D-3D37-CC47-2208-3B965364296C}"/>
              </a:ext>
            </a:extLst>
          </p:cNvPr>
          <p:cNvSpPr txBox="1"/>
          <p:nvPr/>
        </p:nvSpPr>
        <p:spPr>
          <a:xfrm>
            <a:off x="306092" y="1915646"/>
            <a:ext cx="2286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Presented by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D77FAC-7D1B-9A4C-691F-D683D34D207D}"/>
              </a:ext>
            </a:extLst>
          </p:cNvPr>
          <p:cNvSpPr txBox="1"/>
          <p:nvPr/>
        </p:nvSpPr>
        <p:spPr>
          <a:xfrm>
            <a:off x="5758936" y="1915646"/>
            <a:ext cx="28138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Presented 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153446-5829-9B96-B473-A8171BDCEC7D}"/>
              </a:ext>
            </a:extLst>
          </p:cNvPr>
          <p:cNvSpPr txBox="1"/>
          <p:nvPr/>
        </p:nvSpPr>
        <p:spPr>
          <a:xfrm>
            <a:off x="5758936" y="2224043"/>
            <a:ext cx="3078972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sz="1600" b="1" dirty="0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Dr. S. Saravanan</a:t>
            </a:r>
          </a:p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092F53"/>
                </a:solidFill>
                <a:latin typeface="Palatino Linotype" panose="02040502050505030304" pitchFamily="18" charset="0"/>
                <a:cs typeface="Times New Roman" panose="02020603050405020304" pitchFamily="18" charset="0"/>
              </a:rPr>
              <a:t>Professor, Dept. of Civil Engg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605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25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Rising Temperatures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temp in Karnal rising at +0.03°C/yr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causeshigher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ET₀ and more water needed per crop cycle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41605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325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Erratic Rainfall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becoming shorter but intense  creating soil moisture uncertainty causing irrigation timing failure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41605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0175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Fixed Schedules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" y="34290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use 50-year-old irrigation calendars leading to 30–40% water wastage or crop stress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09160" y="2926080"/>
            <a:ext cx="4160520" cy="1508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0175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Our Solution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34290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daily irrigation prediction using BiLSTM deep learning + climate change forecasting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150876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50292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73736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ET₀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Penman-Monteith evapotranspiration for Karnal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234440"/>
            <a:ext cx="2743200" cy="150876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234440"/>
            <a:ext cx="50292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73736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1325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17373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water balance model (FC=150mm, WP=60mm)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743200" cy="150876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50292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73736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1325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BiRNN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17373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 baseline model with Bayesian tuning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150876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50292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4290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BiLSTM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4290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 advanced model — best temporal memory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54680" y="2926080"/>
            <a:ext cx="2743200" cy="150876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926080"/>
            <a:ext cx="50292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72968" y="34290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4904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Select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49040" y="34290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 winner based on RMSE, MAE, NSE, R²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926080"/>
            <a:ext cx="2743200" cy="150876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926080"/>
            <a:ext cx="50292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53328" y="34290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940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2026–2040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29400" y="34290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Season-wise irrigation calendar for Wheat &amp; Rice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 &amp;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Karnal, Haryana — Study Area &amp; NASA POWER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3931920" cy="3520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Karnal, Haryana, India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Latitude:   29.6°N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939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Longitude:  76.9°E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048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Elevation:  237.6 m (MERRA-2)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7157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Climate:    Semi-arid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0266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Soil:       Loamy (Indo-Gangetic)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Temp:   41°C (May–Jun)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64845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Temp:   7°C (Jan)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9593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Rain:   ~750 mm/year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1234440"/>
            <a:ext cx="44348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2801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 Variables (2011–2025)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1691640"/>
            <a:ext cx="4434840" cy="438912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7099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17099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at 2m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170992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2148840"/>
            <a:ext cx="4434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1671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PRECTOTCORR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1671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Rainfall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216712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2606040"/>
            <a:ext cx="4434840" cy="438912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6243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RH2M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26243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Humidity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262432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34840" y="3063240"/>
            <a:ext cx="4434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0815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WS2M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0815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at 2m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308152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34840" y="3520440"/>
            <a:ext cx="4434840" cy="438912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35387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ALLSKY_SFC_SW_DWN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35387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Radiation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353872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MJ/m²/d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34840" y="41605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5,479 daily records  |  15 Years  |  Zero missing values after QC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37160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(5479 days)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18488" y="1719072"/>
            <a:ext cx="256032" cy="7315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188720"/>
            <a:ext cx="137160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18872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81528" y="1719072"/>
            <a:ext cx="256032" cy="7315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188720"/>
            <a:ext cx="1371600" cy="1188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18872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ET₀ + SMS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44568" y="1719072"/>
            <a:ext cx="256032" cy="7315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188720"/>
            <a:ext cx="1371600" cy="1188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18872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 features)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07608" y="1719072"/>
            <a:ext cx="256032" cy="7315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188720"/>
            <a:ext cx="137160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18872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Hyper-Tuning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70648" y="1719072"/>
            <a:ext cx="256032" cy="7315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1188720"/>
            <a:ext cx="137160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18872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BiRNN vs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Train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2395728"/>
            <a:ext cx="73152" cy="34747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2788920"/>
            <a:ext cx="13716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89520" y="278892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87768" y="3337560"/>
            <a:ext cx="237744" cy="7315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2788920"/>
            <a:ext cx="13716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78892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Forecast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2026–2040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24728" y="3337560"/>
            <a:ext cx="237744" cy="7315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2788920"/>
            <a:ext cx="13716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278892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61688" y="3337560"/>
            <a:ext cx="237744" cy="7315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4680" y="2788920"/>
            <a:ext cx="1371600" cy="1188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00400" y="278892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 + Kharif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898648" y="3337560"/>
            <a:ext cx="237744" cy="7315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91640" y="2788920"/>
            <a:ext cx="1371600" cy="1188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737360" y="278892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CSVs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Report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Penman-Monteith ET₀ &amp; Soil Moisture Balance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822960"/>
          </a:xfrm>
          <a:prstGeom prst="rect">
            <a:avLst/>
          </a:prstGeom>
          <a:solidFill>
            <a:srgbClr val="1565C0">
              <a:alpha val="90000"/>
            </a:srgbClr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ET₀  =  [ 0.408·Δ·(Rn−G)+γ·(900/(T+273))·u₂·(es−</a:t>
            </a:r>
            <a:r>
              <a:rPr lang="en-US" sz="16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</a:t>
            </a: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]  / 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Δ + γ·(1+0.34·u₂) 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54864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2402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radiation (MJ/m²/d)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2240280"/>
            <a:ext cx="54864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22402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2402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(°C)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240280"/>
            <a:ext cx="54864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2402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2402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(m/s)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54864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974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es−ea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6974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 pressure deficit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54680" y="2697480"/>
            <a:ext cx="54864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6974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26974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of sat. VP curve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2697480"/>
            <a:ext cx="54864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6974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26974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Psychrometric constant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337560"/>
            <a:ext cx="859536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337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Soil Moisture Balance:   SMS(t) = SMS(t−1) + P(t) − ET₀(t) − IR(t)     →     Clipped to [WP=60mm, FC=150mm]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931920"/>
            <a:ext cx="4160520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9776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Irrigation Requirement: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 = max(0,  ETc − P_eff)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 ETc = Kc × ET₀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3931920"/>
            <a:ext cx="4160520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9776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Coefficients (Kc):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Rabi peak: Kc = 1.15 (Dec–Feb)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Kharif peak: Kc = 1.20 (Aug–Sep)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FDBABC-E7CF-955A-9F35-48EC1EBA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E1CEE25-32F5-FE18-D19C-3AFF83B48FB3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973D4B-F2C5-EAE4-83CA-B494A341E540}"/>
              </a:ext>
            </a:extLst>
          </p:cNvPr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b="1" kern="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</a:rPr>
              <a:t>EXPLORATORY DATA ANALYSIS (EDA)</a:t>
            </a:r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0C7F09-5B26-F06B-4936-81C83935225D}"/>
              </a:ext>
            </a:extLst>
          </p:cNvPr>
          <p:cNvSpPr/>
          <p:nvPr/>
        </p:nvSpPr>
        <p:spPr>
          <a:xfrm>
            <a:off x="365760" y="457200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3746285-F911-36F8-6CDA-A53D9988D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638" y="411481"/>
            <a:ext cx="5211545" cy="473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0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323CE-3972-551E-DD67-7040A8356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DD36C57-E63E-3375-D21F-A301170A8A3F}"/>
              </a:ext>
            </a:extLst>
          </p:cNvPr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BACKGROUND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7D7FFF-B2CC-51F6-6AAB-DCBBA84D9E02}"/>
              </a:ext>
            </a:extLst>
          </p:cNvPr>
          <p:cNvSpPr/>
          <p:nvPr/>
        </p:nvSpPr>
        <p:spPr>
          <a:xfrm>
            <a:off x="365760" y="457200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Penman-Monteith ET₀ &amp; Soil Moisture Balance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70A6C-466A-8A4C-26CF-8D77F6EB6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06" y="0"/>
            <a:ext cx="82751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0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889E98-FBC7-5F9C-B006-C801F8196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E6A5EC-447B-215F-6608-C2D04061A95F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6B7817-4562-28CD-7B40-0076A00F58F2}"/>
              </a:ext>
            </a:extLst>
          </p:cNvPr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 Climate Overview (2011-2025)</a:t>
            </a: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271F39-DE10-2351-A002-75F8408CA7C7}"/>
              </a:ext>
            </a:extLst>
          </p:cNvPr>
          <p:cNvSpPr/>
          <p:nvPr/>
        </p:nvSpPr>
        <p:spPr>
          <a:xfrm>
            <a:off x="365760" y="457200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66A168-8BD2-42F9-D946-A58AC0939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76" y="411480"/>
            <a:ext cx="4624204" cy="468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9DA1DE-00D2-6697-F185-34AD0B793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892" y="711688"/>
            <a:ext cx="4333095" cy="408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51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6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BiRNN vs BiLSTM — Architecture Comparison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361188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393192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BiRNN — Baseline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35661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(14 time steps × 19 features)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Bidirectional SimpleRNN (tuned units)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237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Dropout + BatchNorm (optional)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Bidirectional SimpleRNN (tuned units)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284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Dropout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30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Dense(16, ReLU)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33088"/>
            <a:ext cx="356616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330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Dense(1) — Irrigation (mm/day)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1188720"/>
            <a:ext cx="3931920" cy="3611880"/>
          </a:xfrm>
          <a:prstGeom prst="rect">
            <a:avLst/>
          </a:prstGeom>
          <a:solidFill>
            <a:srgbClr val="ECEFF1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1188720"/>
            <a:ext cx="393192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1887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— Advanced 🏆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120640" y="1719072"/>
            <a:ext cx="35661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(14 time steps × 19 features)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2121408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Bidirectional LSTM (tuned units)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2523744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5237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Dropout + BatchNorm (optional)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20640" y="2926080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Bidirectional LSTM (tuned units)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120640" y="3328416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3284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Dropout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20640" y="3730752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730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Dense(32, ReLU) → Dense(16, ReLU)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120640" y="4133088"/>
            <a:ext cx="356616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41330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Dense(1) — Irrigation (mm/day)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77640" y="28346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B4B9A-4CAC-1359-0E20-358EE5D75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CC9C23-C6B9-363F-F946-EB50ADB683A6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ED364E-EF3E-1D42-1E08-EEE791C27305}"/>
              </a:ext>
            </a:extLst>
          </p:cNvPr>
          <p:cNvSpPr/>
          <p:nvPr/>
        </p:nvSpPr>
        <p:spPr>
          <a:xfrm>
            <a:off x="44206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Model Selection Based on Performance Comparison</a:t>
            </a:r>
            <a:endParaRPr lang="en-US" sz="20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A0E7FA-13E9-B0B3-CF5B-002B32A17A83}"/>
              </a:ext>
            </a:extLst>
          </p:cNvPr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A0D47-4112-E5F5-A019-A6385C3E0A5A}"/>
              </a:ext>
            </a:extLst>
          </p:cNvPr>
          <p:cNvSpPr txBox="1"/>
          <p:nvPr/>
        </p:nvSpPr>
        <p:spPr>
          <a:xfrm>
            <a:off x="2596243" y="577198"/>
            <a:ext cx="5988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 err="1"/>
              <a:t>BiRNN</a:t>
            </a:r>
            <a:r>
              <a:rPr lang="en-GB" sz="1400" b="1" dirty="0"/>
              <a:t> vs </a:t>
            </a:r>
            <a:r>
              <a:rPr lang="en-GB" sz="1400" b="1" dirty="0" err="1"/>
              <a:t>BiLSTM</a:t>
            </a:r>
            <a:r>
              <a:rPr lang="en-GB" sz="1400" b="1" dirty="0"/>
              <a:t> – Performance Metrics </a:t>
            </a:r>
            <a:r>
              <a:rPr lang="en-GB" sz="1400" b="1" dirty="0" err="1"/>
              <a:t>Comparision</a:t>
            </a:r>
            <a:endParaRPr lang="en-IN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5A7158-3B04-EA0A-1746-C42FB9C1C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11" y="887441"/>
            <a:ext cx="7096177" cy="4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68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FORECAST 2026–2040</a:t>
            </a:r>
            <a:endParaRPr lang="en-US" sz="16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959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Irrigation Forecast — 2026 to 2040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767381" y="2614518"/>
            <a:ext cx="33766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Irrigation demand projected to increase 8–15% for Rabi (Wheat) and show higher variability for Kharif (Rice) by 2040</a:t>
            </a:r>
            <a:endParaRPr lang="en-US" sz="12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9AEE30-D95B-76D7-19AE-7CE8009B2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90" y="937260"/>
            <a:ext cx="419279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BB7EC-48CC-B5D4-505C-44D8DC40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E40DA3-91E7-E6C4-E645-6EC2730371C2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235AAF-64CE-5514-2368-82298053A990}"/>
              </a:ext>
            </a:extLst>
          </p:cNvPr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Hystorical</a:t>
            </a:r>
            <a:r>
              <a:rPr lang="en-US" b="1" kern="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Future Monthly and Annual mean Irrigation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F610E8-9B21-B29B-A33A-921655C71C77}"/>
              </a:ext>
            </a:extLst>
          </p:cNvPr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Irrigation Forecast — 2026 to 2040</a:t>
            </a:r>
            <a:endParaRPr lang="en-US" sz="3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0F8271E-9A9D-2263-F8D6-9B9A6D7871BB}"/>
              </a:ext>
            </a:extLst>
          </p:cNvPr>
          <p:cNvSpPr/>
          <p:nvPr/>
        </p:nvSpPr>
        <p:spPr>
          <a:xfrm>
            <a:off x="5137596" y="2699297"/>
            <a:ext cx="33766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96BBEE-15B5-A53E-A0AF-270B3BC41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5374"/>
            <a:ext cx="9144000" cy="399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0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0D57-CE7B-16CE-7CE4-248C26C29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D51B60-980A-DA3C-5555-4115D86AD929}"/>
              </a:ext>
            </a:extLst>
          </p:cNvPr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6956C7-1E12-8234-EE1E-9BB1F4D43547}"/>
              </a:ext>
            </a:extLst>
          </p:cNvPr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Forecasted Irrigation Requirement (mm/month)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98EC99-5E33-A0B8-152B-F52411789A8C}"/>
              </a:ext>
            </a:extLst>
          </p:cNvPr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66BE76-C594-2577-C782-224F90FC0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32" y="411480"/>
            <a:ext cx="6845350" cy="469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2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SCHEDULING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Season-Wise Irrigation Scheduling Calendar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457200"/>
          </a:xfrm>
          <a:prstGeom prst="rect">
            <a:avLst/>
          </a:prstGeom>
          <a:solidFill>
            <a:srgbClr val="E6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Rabi Season — Wheat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411480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82496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68249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stage (Kc=0.30)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168249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/ light irrigation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39696"/>
            <a:ext cx="411480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57984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15798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Germination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157984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7–10 days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15184"/>
            <a:ext cx="4114800" cy="457200"/>
          </a:xfrm>
          <a:prstGeom prst="rect">
            <a:avLst/>
          </a:prstGeom>
          <a:solidFill>
            <a:srgbClr val="FFE0B2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33472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263347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Tillering (Kc=1.15)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63347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3–4 days ⚠️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90672"/>
            <a:ext cx="4114800" cy="457200"/>
          </a:xfrm>
          <a:prstGeom prst="rect">
            <a:avLst/>
          </a:prstGeom>
          <a:solidFill>
            <a:srgbClr val="FFE0B2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0896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10896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Jointing–Booting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3108960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3–4 days ⚠️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114800" cy="457200"/>
          </a:xfrm>
          <a:prstGeom prst="rect">
            <a:avLst/>
          </a:prstGeom>
          <a:solidFill>
            <a:srgbClr val="FFE0B2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584448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358444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filling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3584448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4–5 days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041648"/>
            <a:ext cx="41148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059936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405993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(Kc=0.75)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06040" y="405993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7 days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188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Kharif Season — Rice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754880" y="1664208"/>
            <a:ext cx="4114800" cy="457200"/>
          </a:xfrm>
          <a:prstGeom prst="rect">
            <a:avLst/>
          </a:prstGeom>
          <a:solidFill>
            <a:srgbClr val="FFCCBC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682496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168249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Nursery–Transplant (Kc=1.05)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1682496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Daily/every 2 days ⚠️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139696"/>
            <a:ext cx="4114800" cy="457200"/>
          </a:xfrm>
          <a:prstGeom prst="rect">
            <a:avLst/>
          </a:prstGeom>
          <a:solidFill>
            <a:srgbClr val="FFF9C4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157984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215798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Vegetative growth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69480" y="215798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2–3 days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2615184"/>
            <a:ext cx="4114800" cy="457200"/>
          </a:xfrm>
          <a:prstGeom prst="rect">
            <a:avLst/>
          </a:prstGeom>
          <a:solidFill>
            <a:srgbClr val="FFCCBC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633472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263347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Tillering (Kc=1.20)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69480" y="263347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days ⚠️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090672"/>
            <a:ext cx="4114800" cy="457200"/>
          </a:xfrm>
          <a:prstGeom prst="rect">
            <a:avLst/>
          </a:prstGeom>
          <a:solidFill>
            <a:srgbClr val="FFCCBC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10896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69280" y="31089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Heading–Flowering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69480" y="31089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monitor daily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3566160"/>
            <a:ext cx="41148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584448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0" y="358444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filling (Kc=0.80)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269480" y="358444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5–7 days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54880" y="4041648"/>
            <a:ext cx="41148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4059936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669280" y="405993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Maturity–Harvest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269480" y="4059936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irrigation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Impact on Irrigation Water Demand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60520" cy="1645920"/>
          </a:xfrm>
          <a:prstGeom prst="rect">
            <a:avLst/>
          </a:prstGeom>
          <a:solidFill>
            <a:srgbClr val="ECEFF1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91440" cy="1645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 Fails Here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assume statistical independence of samples. Irrigation demand has temporal memory — a drought 2 weeks ago affects soil moisture today. Simple models cannot capture this.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160520" cy="1645920"/>
          </a:xfrm>
          <a:prstGeom prst="rect">
            <a:avLst/>
          </a:prstGeom>
          <a:solidFill>
            <a:srgbClr val="ECEFF1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34440"/>
            <a:ext cx="91440" cy="1645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258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BiLSTM Wins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gates retain cumulative climate effects. The forget gate discards irrelevant past, input gate stores new stress signals, output gate controls what influences prediction.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160520" cy="164592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63240"/>
            <a:ext cx="91440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546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 Impact by 2040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rise → ET₀ +3–5%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demand +8–12%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most critical month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stress increases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4160520" cy="1645920"/>
          </a:xfrm>
          <a:prstGeom prst="rect">
            <a:avLst/>
          </a:prstGeom>
          <a:solidFill>
            <a:srgbClr val="ECEFF1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63240"/>
            <a:ext cx="91440" cy="1645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1546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 Impact by 2040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56616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variability increases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spell irrigation +15–20%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August–September most affected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scheduling critical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 &amp; Output Files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475488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25296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22529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Dataset Processed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225296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5,479 rows with ET₀, ETc, SMS, Irrigation, VPD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82496"/>
            <a:ext cx="475488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00784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70078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Metrics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1700784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BiRNN vs BiLSTM — RMSE, MAE, R², NSE, MAPE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15798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157984"/>
            <a:ext cx="475488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76272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176272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Predictions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2176272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BiRNN vs BiLSTM — daily test period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2633472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633472"/>
            <a:ext cx="475488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651760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265176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Forecast Daily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2651760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5,479 daily predictions (2026–2040) + soil moisture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3108960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108960"/>
            <a:ext cx="47548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127248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12724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 Irrigation Schedule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3127248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wheat schedule with advisory (2026–2040)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3584448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584448"/>
            <a:ext cx="47548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602736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360273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 Irrigation Schedule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0" y="3602736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rice schedule with advisory (2026–2040)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" y="4059936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4059936"/>
            <a:ext cx="475488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078224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407822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0" y="4078224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HP values for BiRNN and BiLSTM models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65760" y="45720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AC1B4-0DE1-A52B-3BA1-89DDE834D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6450" y="1242143"/>
            <a:ext cx="6251100" cy="1570800"/>
          </a:xfrm>
        </p:spPr>
        <p:txBody>
          <a:bodyPr/>
          <a:lstStyle/>
          <a:p>
            <a:r>
              <a:rPr lang="en-IN" dirty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582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1179</Words>
  <Application>Microsoft Office PowerPoint</Application>
  <PresentationFormat>On-screen Show (16:9)</PresentationFormat>
  <Paragraphs>255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Palatino Linotype</vt:lpstr>
      <vt:lpstr>Office Theme</vt:lpstr>
      <vt:lpstr>AI-Based Smart Irrigation Scheduling using BiRNN &amp; BiLSTM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Change-Aware Smart Irrigation Scheduling</dc:title>
  <dc:subject>PptxGenJS Presentation</dc:subject>
  <dc:creator>koushik</dc:creator>
  <cp:lastModifiedBy>103123022_chettikrindiKoushikRao .</cp:lastModifiedBy>
  <cp:revision>6</cp:revision>
  <dcterms:created xsi:type="dcterms:W3CDTF">2026-04-10T19:01:50Z</dcterms:created>
  <dcterms:modified xsi:type="dcterms:W3CDTF">2026-04-16T08:20:31Z</dcterms:modified>
</cp:coreProperties>
</file>